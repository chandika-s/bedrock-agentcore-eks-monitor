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1188720"/>
            <a:ext cx="56692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K8s
</a:t>
            </a:r>
            <a:pPr indent="0" marL="0">
              <a:buNone/>
            </a:pPr>
            <a:r>
              <a:rPr lang="en-US" sz="40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Auto-Remediation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0040" y="3090672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 →  AgentCore  →  Zero-Touch Incident Response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 ·  Senior Engineer, Your Company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160520"/>
            <a:ext cx="132588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904" y="41788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4904" y="46085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Tools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83080" y="4160520"/>
            <a:ext cx="132588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37944" y="41788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837944" y="46085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Touch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4160520"/>
            <a:ext cx="132588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00984" y="41788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00984" y="46085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4160520"/>
            <a:ext cx="132588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64024" y="41788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8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764024" y="4608576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6400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20040" y="113385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incidents wake engineers at 3 AM — every single night.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4160520" cy="144475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572768"/>
            <a:ext cx="4160520" cy="64008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73936"/>
            <a:ext cx="384048" cy="38404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32688" y="17373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20624" y="22311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nightly alerts.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auto-resolvable.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burned out on-call.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09160" y="1572768"/>
            <a:ext cx="4160520" cy="144475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09160" y="1572768"/>
            <a:ext cx="4160520" cy="64008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1773936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67528" y="17373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MTTR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855464" y="2231136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15-45 min per OOMKilled.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 →  restart  →  JIRA.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every night.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274320" y="3200400"/>
            <a:ext cx="4160520" cy="144475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74320" y="3200400"/>
            <a:ext cx="4160520" cy="64008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401568"/>
            <a:ext cx="384048" cy="3840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32688" y="336499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 Overhead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420624" y="3858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memory, rollout restart,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ticket, Slack post.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every time.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709160" y="3200400"/>
            <a:ext cx="4160520" cy="144475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709160" y="3200400"/>
            <a:ext cx="4160520" cy="64008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401568"/>
            <a:ext cx="384048" cy="38404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367528" y="336499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Loss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4855464" y="385876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log capture.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gone by morning.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cycle repeats.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640080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320040" y="113385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 agent that investigates and fixes — zero human intervention required.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72" y="2871216"/>
            <a:ext cx="274320" cy="27432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74320" y="1645920"/>
            <a:ext cx="2029968" cy="3218688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1645920"/>
            <a:ext cx="2029968" cy="64008"/>
          </a:xfrm>
          <a:prstGeom prst="rect">
            <a:avLst/>
          </a:prstGeom>
          <a:solidFill>
            <a:srgbClr val="FF6835"/>
          </a:solidFill>
          <a:ln/>
        </p:spPr>
      </p:sp>
      <p:sp>
        <p:nvSpPr>
          <p:cNvPr id="21" name="Shape 18"/>
          <p:cNvSpPr/>
          <p:nvPr/>
        </p:nvSpPr>
        <p:spPr>
          <a:xfrm>
            <a:off x="960120" y="1847088"/>
            <a:ext cx="658368" cy="658368"/>
          </a:xfrm>
          <a:prstGeom prst="ellipse">
            <a:avLst/>
          </a:prstGeom>
          <a:solidFill>
            <a:srgbClr val="FF6835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670048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65760" y="32735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365760" y="36393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detects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CrashLoopBackOff.</a:t>
            </a:r>
            <a:endParaRPr lang="en-US" sz="12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871216"/>
            <a:ext cx="274320" cy="27432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2487168" y="1645920"/>
            <a:ext cx="2029968" cy="3218688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2487168" y="1645920"/>
            <a:ext cx="2029968" cy="64008"/>
          </a:xfrm>
          <a:prstGeom prst="rect">
            <a:avLst/>
          </a:prstGeom>
          <a:solidFill>
            <a:srgbClr val="1B7FE8"/>
          </a:solidFill>
          <a:ln/>
        </p:spPr>
      </p:sp>
      <p:sp>
        <p:nvSpPr>
          <p:cNvPr id="29" name="Shape 24"/>
          <p:cNvSpPr/>
          <p:nvPr/>
        </p:nvSpPr>
        <p:spPr>
          <a:xfrm>
            <a:off x="3172968" y="1847088"/>
            <a:ext cx="658368" cy="658368"/>
          </a:xfrm>
          <a:prstGeom prst="ellipse">
            <a:avLst/>
          </a:prstGeom>
          <a:solidFill>
            <a:srgbClr val="1B7FE8"/>
          </a:solidFill>
          <a:ln/>
        </p:spPr>
      </p:sp>
      <p:sp>
        <p:nvSpPr>
          <p:cNvPr id="30" name="Text 25"/>
          <p:cNvSpPr/>
          <p:nvPr/>
        </p:nvSpPr>
        <p:spPr>
          <a:xfrm>
            <a:off x="3172968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670048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578608" y="32735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Invoked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2578608" y="36393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 Strands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(Claude).</a:t>
            </a:r>
            <a:endParaRPr lang="en-US" sz="12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2871216"/>
            <a:ext cx="274320" cy="27432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700016" y="1645920"/>
            <a:ext cx="2029968" cy="3218688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4700016" y="1645920"/>
            <a:ext cx="2029968" cy="640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7" name="Shape 30"/>
          <p:cNvSpPr/>
          <p:nvPr/>
        </p:nvSpPr>
        <p:spPr>
          <a:xfrm>
            <a:off x="5385816" y="1847088"/>
            <a:ext cx="658368" cy="65836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8" name="Text 31"/>
          <p:cNvSpPr/>
          <p:nvPr/>
        </p:nvSpPr>
        <p:spPr>
          <a:xfrm>
            <a:off x="5385816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670048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791456" y="32735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4791456" y="36393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tools: logs,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describe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pod, list pods.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912864" y="1645920"/>
            <a:ext cx="2029968" cy="3218688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6912864" y="1645920"/>
            <a:ext cx="2029968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4" name="Shape 36"/>
          <p:cNvSpPr/>
          <p:nvPr/>
        </p:nvSpPr>
        <p:spPr>
          <a:xfrm>
            <a:off x="7598664" y="1847088"/>
            <a:ext cx="658368" cy="65836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5" name="Text 37"/>
          <p:cNvSpPr/>
          <p:nvPr/>
        </p:nvSpPr>
        <p:spPr>
          <a:xfrm>
            <a:off x="7598664" y="184708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9248" y="2670048"/>
            <a:ext cx="457200" cy="45720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004304" y="32735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400" dirty="0"/>
          </a:p>
        </p:txBody>
      </p:sp>
      <p:sp>
        <p:nvSpPr>
          <p:cNvPr id="48" name="Text 39"/>
          <p:cNvSpPr/>
          <p:nvPr/>
        </p:nvSpPr>
        <p:spPr>
          <a:xfrm>
            <a:off x="7004304" y="3639312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memory,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pod 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Slack.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6400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 →  Webhook Bridge  →  Bedrock AgentCore  →  K8s API / JIRA / Slack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8600" y="1508760"/>
            <a:ext cx="3749040" cy="342900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1508760"/>
            <a:ext cx="3749040" cy="347472"/>
          </a:xfrm>
          <a:prstGeom prst="rect">
            <a:avLst/>
          </a:prstGeom>
          <a:solidFill>
            <a:srgbClr val="1B7FE8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1508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EKS Cluster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1956816"/>
            <a:ext cx="3474720" cy="594360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84832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96112" y="20116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demo-app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6112" y="2286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64Mi memory limit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65760" y="2688336"/>
            <a:ext cx="3474720" cy="594360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16352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96112" y="2743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kube-prometheus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96112" y="301752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metrics every 30s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65760" y="3419856"/>
            <a:ext cx="3474720" cy="594360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47872"/>
            <a:ext cx="320040" cy="32004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96112" y="3474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896112" y="374904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critical  →  webhook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365760" y="4151376"/>
            <a:ext cx="3474720" cy="594360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9392"/>
            <a:ext cx="320040" cy="3200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96112" y="42062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5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webhook-agent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896112" y="4480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bridge (monitoring ns)</a:t>
            </a:r>
            <a:endParaRPr lang="en-US" sz="10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224" y="2880360"/>
            <a:ext cx="411480" cy="4114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977640" y="2505456"/>
            <a:ext cx="822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invoke_agent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_runtime()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4709160" y="1508760"/>
            <a:ext cx="4206240" cy="342900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4709160" y="1508760"/>
            <a:ext cx="4206240" cy="347472"/>
          </a:xfrm>
          <a:prstGeom prst="rect">
            <a:avLst/>
          </a:prstGeom>
          <a:solidFill>
            <a:srgbClr val="FF6835"/>
          </a:solidFill>
          <a:ln/>
        </p:spPr>
      </p:sp>
      <p:sp>
        <p:nvSpPr>
          <p:cNvPr id="41" name="Text 34"/>
          <p:cNvSpPr/>
          <p:nvPr/>
        </p:nvSpPr>
        <p:spPr>
          <a:xfrm>
            <a:off x="4828032" y="15087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Bedrock AgentCore Runtime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4846320" y="1956816"/>
            <a:ext cx="3931920" cy="402336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4846320" y="1956816"/>
            <a:ext cx="64008" cy="40233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4" name="Text 37"/>
          <p:cNvSpPr/>
          <p:nvPr/>
        </p:nvSpPr>
        <p:spPr>
          <a:xfrm>
            <a:off x="5010912" y="2029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k8s_list_pods  ·  k8s_get_logs</a:t>
            </a:r>
            <a:endParaRPr lang="en-US" sz="1150" dirty="0"/>
          </a:p>
        </p:txBody>
      </p:sp>
      <p:sp>
        <p:nvSpPr>
          <p:cNvPr id="45" name="Shape 38"/>
          <p:cNvSpPr/>
          <p:nvPr/>
        </p:nvSpPr>
        <p:spPr>
          <a:xfrm>
            <a:off x="4846320" y="2432304"/>
            <a:ext cx="3931920" cy="402336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4846320" y="2432304"/>
            <a:ext cx="64008" cy="402336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47" name="Text 40"/>
          <p:cNvSpPr/>
          <p:nvPr/>
        </p:nvSpPr>
        <p:spPr>
          <a:xfrm>
            <a:off x="5010912" y="2505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k8s_describe_pod  ·  k8s_get_events</a:t>
            </a:r>
            <a:endParaRPr lang="en-US" sz="1150" dirty="0"/>
          </a:p>
        </p:txBody>
      </p:sp>
      <p:sp>
        <p:nvSpPr>
          <p:cNvPr id="48" name="Shape 41"/>
          <p:cNvSpPr/>
          <p:nvPr/>
        </p:nvSpPr>
        <p:spPr>
          <a:xfrm>
            <a:off x="4846320" y="2907792"/>
            <a:ext cx="3931920" cy="402336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4846320" y="2907792"/>
            <a:ext cx="64008" cy="40233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0" name="Text 43"/>
          <p:cNvSpPr/>
          <p:nvPr/>
        </p:nvSpPr>
        <p:spPr>
          <a:xfrm>
            <a:off x="5010912" y="29809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k8s_patch_memory  →  EKS API</a:t>
            </a:r>
            <a:endParaRPr lang="en-US" sz="1150" dirty="0"/>
          </a:p>
        </p:txBody>
      </p:sp>
      <p:sp>
        <p:nvSpPr>
          <p:cNvPr id="51" name="Shape 44"/>
          <p:cNvSpPr/>
          <p:nvPr/>
        </p:nvSpPr>
        <p:spPr>
          <a:xfrm>
            <a:off x="4846320" y="3383280"/>
            <a:ext cx="3931920" cy="402336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4846320" y="3383280"/>
            <a:ext cx="64008" cy="402336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3" name="Text 46"/>
          <p:cNvSpPr/>
          <p:nvPr/>
        </p:nvSpPr>
        <p:spPr>
          <a:xfrm>
            <a:off x="5010912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k8s_rollout_restart</a:t>
            </a:r>
            <a:endParaRPr lang="en-US" sz="1150" dirty="0"/>
          </a:p>
        </p:txBody>
      </p:sp>
      <p:sp>
        <p:nvSpPr>
          <p:cNvPr id="54" name="Shape 47"/>
          <p:cNvSpPr/>
          <p:nvPr/>
        </p:nvSpPr>
        <p:spPr>
          <a:xfrm>
            <a:off x="4846320" y="3858768"/>
            <a:ext cx="3931920" cy="402336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5" name="Shape 48"/>
          <p:cNvSpPr/>
          <p:nvPr/>
        </p:nvSpPr>
        <p:spPr>
          <a:xfrm>
            <a:off x="4846320" y="3858768"/>
            <a:ext cx="64008" cy="402336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6" name="Text 49"/>
          <p:cNvSpPr/>
          <p:nvPr/>
        </p:nvSpPr>
        <p:spPr>
          <a:xfrm>
            <a:off x="5010912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create_jira_ticket  →  JIRA Cloud</a:t>
            </a:r>
            <a:endParaRPr lang="en-US" sz="1150" dirty="0"/>
          </a:p>
        </p:txBody>
      </p:sp>
      <p:sp>
        <p:nvSpPr>
          <p:cNvPr id="57" name="Shape 50"/>
          <p:cNvSpPr/>
          <p:nvPr/>
        </p:nvSpPr>
        <p:spPr>
          <a:xfrm>
            <a:off x="4846320" y="4334256"/>
            <a:ext cx="3931920" cy="402336"/>
          </a:xfrm>
          <a:prstGeom prst="rect">
            <a:avLst/>
          </a:prstGeom>
          <a:solidFill>
            <a:srgbClr val="0B1640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4846320" y="4334256"/>
            <a:ext cx="64008" cy="402336"/>
          </a:xfrm>
          <a:prstGeom prst="rect">
            <a:avLst/>
          </a:prstGeom>
          <a:solidFill>
            <a:srgbClr val="FF6835"/>
          </a:solidFill>
          <a:ln/>
        </p:spPr>
      </p:sp>
      <p:sp>
        <p:nvSpPr>
          <p:cNvPr id="59" name="Text 52"/>
          <p:cNvSpPr/>
          <p:nvPr/>
        </p:nvSpPr>
        <p:spPr>
          <a:xfrm>
            <a:off x="5010912" y="4407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send_slack_notif  →  #incidents</a:t>
            </a:r>
            <a:endParaRPr lang="en-US" sz="1150" dirty="0"/>
          </a:p>
        </p:txBody>
      </p:sp>
      <p:sp>
        <p:nvSpPr>
          <p:cNvPr id="60" name="Shape 53"/>
          <p:cNvSpPr/>
          <p:nvPr/>
        </p:nvSpPr>
        <p:spPr>
          <a:xfrm>
            <a:off x="4846320" y="4800600"/>
            <a:ext cx="3931920" cy="9144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61" name="Text 54"/>
          <p:cNvSpPr/>
          <p:nvPr/>
        </p:nvSpPr>
        <p:spPr>
          <a:xfrm>
            <a:off x="4846320" y="480060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  ·  Claude claude-sonnet-4 on Bedrock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828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3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201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1 OF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206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 + Alertmanager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0040" y="914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layer — fires critical alerts when pods misbehave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1316736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316736"/>
            <a:ext cx="4114800" cy="64008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44752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86968" y="1444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(PrometheusRule CRD)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" y="1920240"/>
            <a:ext cx="3840480" cy="804672"/>
          </a:xfrm>
          <a:prstGeom prst="rect">
            <a:avLst/>
          </a:prstGeom>
          <a:solidFill>
            <a:srgbClr val="EEF3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30552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50976" y="19933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OOMKilled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950976" y="230428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kube_pod_container_status_last_terminated_reason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11480" y="2880360"/>
            <a:ext cx="3840480" cy="804672"/>
          </a:xfrm>
          <a:prstGeom prst="rect">
            <a:avLst/>
          </a:prstGeom>
          <a:solidFill>
            <a:srgbClr val="EEF3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90672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50976" y="295351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CrashLoopBackOff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950976" y="326440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kube_pod_container_status_waiting_reason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11480" y="3840480"/>
            <a:ext cx="3840480" cy="804672"/>
          </a:xfrm>
          <a:prstGeom prst="rect">
            <a:avLst/>
          </a:prstGeom>
          <a:solidFill>
            <a:srgbClr val="EEF3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050792"/>
            <a:ext cx="329184" cy="32918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50976" y="39136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Memory (&gt;90%)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950976" y="4224528"/>
            <a:ext cx="3127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container_memory / limit  →  pre-emptive alert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663440" y="1316736"/>
            <a:ext cx="41148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63440" y="1316736"/>
            <a:ext cx="4114800" cy="64008"/>
          </a:xfrm>
          <a:prstGeom prst="rect">
            <a:avLst/>
          </a:prstGeom>
          <a:solidFill>
            <a:srgbClr val="1B7FE8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444752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76088" y="1444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Routing Config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800600" y="1965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Receiver:</a:t>
            </a:r>
            <a:endParaRPr lang="en-US" sz="1250" dirty="0"/>
          </a:p>
        </p:txBody>
      </p:sp>
      <p:sp>
        <p:nvSpPr>
          <p:cNvPr id="39" name="Text 32"/>
          <p:cNvSpPr/>
          <p:nvPr/>
        </p:nvSpPr>
        <p:spPr>
          <a:xfrm>
            <a:off x="6528816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k8s-agent-webhook</a:t>
            </a:r>
            <a:endParaRPr lang="en-US" sz="1250" dirty="0"/>
          </a:p>
        </p:txBody>
      </p:sp>
      <p:sp>
        <p:nvSpPr>
          <p:cNvPr id="40" name="Shape 33"/>
          <p:cNvSpPr/>
          <p:nvPr/>
        </p:nvSpPr>
        <p:spPr>
          <a:xfrm>
            <a:off x="4800600" y="2240280"/>
            <a:ext cx="3749040" cy="9144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41" name="Text 34"/>
          <p:cNvSpPr/>
          <p:nvPr/>
        </p:nvSpPr>
        <p:spPr>
          <a:xfrm>
            <a:off x="4800600" y="24688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6528816" y="2468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/api/investigate</a:t>
            </a:r>
            <a:endParaRPr lang="en-US" sz="1250" dirty="0"/>
          </a:p>
        </p:txBody>
      </p:sp>
      <p:sp>
        <p:nvSpPr>
          <p:cNvPr id="43" name="Shape 36"/>
          <p:cNvSpPr/>
          <p:nvPr/>
        </p:nvSpPr>
        <p:spPr>
          <a:xfrm>
            <a:off x="4800600" y="2743200"/>
            <a:ext cx="3749040" cy="9144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44" name="Text 37"/>
          <p:cNvSpPr/>
          <p:nvPr/>
        </p:nvSpPr>
        <p:spPr>
          <a:xfrm>
            <a:off x="4800600" y="29718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filter:</a:t>
            </a:r>
            <a:endParaRPr lang="en-US" sz="1250" dirty="0"/>
          </a:p>
        </p:txBody>
      </p:sp>
      <p:sp>
        <p:nvSpPr>
          <p:cNvPr id="45" name="Text 38"/>
          <p:cNvSpPr/>
          <p:nvPr/>
        </p:nvSpPr>
        <p:spPr>
          <a:xfrm>
            <a:off x="6528816" y="29718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only</a:t>
            </a:r>
            <a:endParaRPr lang="en-US" sz="1250" dirty="0"/>
          </a:p>
        </p:txBody>
      </p:sp>
      <p:sp>
        <p:nvSpPr>
          <p:cNvPr id="46" name="Shape 39"/>
          <p:cNvSpPr/>
          <p:nvPr/>
        </p:nvSpPr>
        <p:spPr>
          <a:xfrm>
            <a:off x="4800600" y="3246120"/>
            <a:ext cx="3749040" cy="9144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47" name="Text 40"/>
          <p:cNvSpPr/>
          <p:nvPr/>
        </p:nvSpPr>
        <p:spPr>
          <a:xfrm>
            <a:off x="4800600" y="3474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group_interval:</a:t>
            </a:r>
            <a:endParaRPr lang="en-US" sz="1250" dirty="0"/>
          </a:p>
        </p:txBody>
      </p:sp>
      <p:sp>
        <p:nvSpPr>
          <p:cNvPr id="48" name="Text 41"/>
          <p:cNvSpPr/>
          <p:nvPr/>
        </p:nvSpPr>
        <p:spPr>
          <a:xfrm>
            <a:off x="6528816" y="34747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1250" dirty="0"/>
          </a:p>
        </p:txBody>
      </p:sp>
      <p:sp>
        <p:nvSpPr>
          <p:cNvPr id="49" name="Shape 42"/>
          <p:cNvSpPr/>
          <p:nvPr/>
        </p:nvSpPr>
        <p:spPr>
          <a:xfrm>
            <a:off x="4800600" y="3749040"/>
            <a:ext cx="3749040" cy="9144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50" name="Text 43"/>
          <p:cNvSpPr/>
          <p:nvPr/>
        </p:nvSpPr>
        <p:spPr>
          <a:xfrm>
            <a:off x="4800600" y="397764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repeat_interval:</a:t>
            </a:r>
            <a:endParaRPr lang="en-US" sz="1250" dirty="0"/>
          </a:p>
        </p:txBody>
      </p:sp>
      <p:sp>
        <p:nvSpPr>
          <p:cNvPr id="51" name="Text 44"/>
          <p:cNvSpPr/>
          <p:nvPr/>
        </p:nvSpPr>
        <p:spPr>
          <a:xfrm>
            <a:off x="6528816" y="397764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</a:t>
            </a:r>
            <a:endParaRPr lang="en-US" sz="1250" dirty="0"/>
          </a:p>
        </p:txBody>
      </p:sp>
      <p:sp>
        <p:nvSpPr>
          <p:cNvPr id="52" name="Shape 45"/>
          <p:cNvSpPr/>
          <p:nvPr/>
        </p:nvSpPr>
        <p:spPr>
          <a:xfrm>
            <a:off x="4800600" y="4251960"/>
            <a:ext cx="3749040" cy="9144"/>
          </a:xfrm>
          <a:prstGeom prst="rect">
            <a:avLst/>
          </a:prstGeom>
          <a:solidFill>
            <a:srgbClr val="D0DCF0"/>
          </a:solidFill>
          <a:ln/>
        </p:spPr>
      </p:sp>
      <p:sp>
        <p:nvSpPr>
          <p:cNvPr id="53" name="Text 46"/>
          <p:cNvSpPr/>
          <p:nvPr/>
        </p:nvSpPr>
        <p:spPr>
          <a:xfrm>
            <a:off x="4800600" y="44805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Payload:</a:t>
            </a:r>
            <a:endParaRPr lang="en-US" sz="1250" dirty="0"/>
          </a:p>
        </p:txBody>
      </p:sp>
      <p:sp>
        <p:nvSpPr>
          <p:cNvPr id="54" name="Text 47"/>
          <p:cNvSpPr/>
          <p:nvPr/>
        </p:nvSpPr>
        <p:spPr>
          <a:xfrm>
            <a:off x="6528816" y="44805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· namespace · reason</a:t>
            </a:r>
            <a:endParaRPr lang="en-US" sz="1250" dirty="0"/>
          </a:p>
        </p:txBody>
      </p:sp>
      <p:sp>
        <p:nvSpPr>
          <p:cNvPr id="55" name="Shape 48"/>
          <p:cNvSpPr/>
          <p:nvPr/>
        </p:nvSpPr>
        <p:spPr>
          <a:xfrm>
            <a:off x="4800600" y="4754880"/>
            <a:ext cx="3749040" cy="9144"/>
          </a:xfrm>
          <a:prstGeom prst="rect">
            <a:avLst/>
          </a:prstGeom>
          <a:solidFill>
            <a:srgbClr val="D0DC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201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2 OF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75488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Webhook Agent — FastAPI Bridge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74320" y="1060704"/>
            <a:ext cx="5120640" cy="3858768"/>
          </a:xfrm>
          <a:prstGeom prst="rect">
            <a:avLst/>
          </a:prstGeom>
          <a:solidFill>
            <a:srgbClr val="060E2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060704"/>
            <a:ext cx="5120640" cy="310896"/>
          </a:xfrm>
          <a:prstGeom prst="rect">
            <a:avLst/>
          </a:prstGeom>
          <a:solidFill>
            <a:srgbClr val="0B1640"/>
          </a:solidFill>
          <a:ln/>
        </p:spPr>
      </p:sp>
      <p:sp>
        <p:nvSpPr>
          <p:cNvPr id="20" name="Text 18"/>
          <p:cNvSpPr/>
          <p:nvPr/>
        </p:nvSpPr>
        <p:spPr>
          <a:xfrm>
            <a:off x="402336" y="106070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webhook-agent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" y="146304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6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@app.post("/api/investigate")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2336" y="170992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investigate(alert: Alert):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02336" y="195681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pod = alert.labels["pod"]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02336" y="220370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ns  = alert.labels["namespace"]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2336" y="245059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why = alert.annotations["reason"]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2336" y="294436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prompt = build_prompt(pod, ns, why)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2336" y="3438144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invoke_agent_runtime(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2336" y="368503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agent_id = AGENT_RUNTIME_ID,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02336" y="393192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session_id = str(uuid4()),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02336" y="4178808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input_text = prompt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02336" y="442569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23560" y="1060704"/>
            <a:ext cx="329184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23560" y="1060704"/>
            <a:ext cx="64008" cy="804672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288" y="1261872"/>
            <a:ext cx="347472" cy="347472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199632" y="113385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Deployment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199632" y="144475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monitoring 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IRSA  →  Bedrock InvokeAgent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623560" y="2029968"/>
            <a:ext cx="329184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5623560" y="2029968"/>
            <a:ext cx="64008" cy="804672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288" y="2231136"/>
            <a:ext cx="347472" cy="347472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6199632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Parsing</a:t>
            </a:r>
            <a:endParaRPr lang="en-US" sz="1300" dirty="0"/>
          </a:p>
        </p:txBody>
      </p:sp>
      <p:sp>
        <p:nvSpPr>
          <p:cNvPr id="41" name="Text 37"/>
          <p:cNvSpPr/>
          <p:nvPr/>
        </p:nvSpPr>
        <p:spPr>
          <a:xfrm>
            <a:off x="6199632" y="241401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pod, namespace,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container, alert reason</a:t>
            </a:r>
            <a:endParaRPr lang="en-US" sz="1100" dirty="0"/>
          </a:p>
        </p:txBody>
      </p:sp>
      <p:sp>
        <p:nvSpPr>
          <p:cNvPr id="42" name="Shape 38"/>
          <p:cNvSpPr/>
          <p:nvPr/>
        </p:nvSpPr>
        <p:spPr>
          <a:xfrm>
            <a:off x="5623560" y="2999232"/>
            <a:ext cx="329184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5623560" y="2999232"/>
            <a:ext cx="64008" cy="804672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3200400"/>
            <a:ext cx="347472" cy="347472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199632" y="3072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6199632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context passed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Bedrock AgentCore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5623560" y="3968496"/>
            <a:ext cx="3291840" cy="80467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3"/>
          <p:cNvSpPr/>
          <p:nvPr/>
        </p:nvSpPr>
        <p:spPr>
          <a:xfrm>
            <a:off x="5623560" y="3968496"/>
            <a:ext cx="64008" cy="804672"/>
          </a:xfrm>
          <a:prstGeom prst="rect">
            <a:avLst/>
          </a:prstGeom>
          <a:solidFill>
            <a:srgbClr val="00C8FF"/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4169664"/>
            <a:ext cx="347472" cy="347472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6199632" y="4041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6199632" y="435254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per invocation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828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3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201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3 OF 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206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Amazon Bedrock AgentCore Runtime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0040" y="914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serverless runtime for Strands-based agentic workflows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1316736"/>
            <a:ext cx="277063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1316736"/>
            <a:ext cx="2770632" cy="64008"/>
          </a:xfrm>
          <a:prstGeom prst="rect">
            <a:avLst/>
          </a:prstGeom>
          <a:solidFill>
            <a:srgbClr val="1B7FE8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481328"/>
            <a:ext cx="402336" cy="40233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50976" y="14996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38912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loop.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claude-sonnet-4 on Bedrock.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227832" y="1316736"/>
            <a:ext cx="277063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27832" y="1316736"/>
            <a:ext cx="2770632" cy="64008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481328"/>
            <a:ext cx="402336" cy="40233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904488" y="14996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IAM-Native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392424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API keys.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trust policies only.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181344" y="1316736"/>
            <a:ext cx="277063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81344" y="1316736"/>
            <a:ext cx="2770632" cy="64008"/>
          </a:xfrm>
          <a:prstGeom prst="rect">
            <a:avLst/>
          </a:prstGeom>
          <a:solidFill>
            <a:srgbClr val="1B7FE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481328"/>
            <a:ext cx="402336" cy="40233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858000" y="14996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345936" y="20116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on Bedrock.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scaling &amp; retries.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274320" y="3145536"/>
            <a:ext cx="277063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274320" y="3145536"/>
            <a:ext cx="2770632" cy="64008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310128"/>
            <a:ext cx="402336" cy="40233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50976" y="33284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438912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alert is a fresh,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invocation.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3227832" y="3145536"/>
            <a:ext cx="277063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227832" y="3145536"/>
            <a:ext cx="2770632" cy="64008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310128"/>
            <a:ext cx="402336" cy="40233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904488" y="33284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Loop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392424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until task done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escalation required.</a:t>
            </a:r>
            <a:endParaRPr lang="en-US" sz="1200" dirty="0"/>
          </a:p>
        </p:txBody>
      </p:sp>
      <p:sp>
        <p:nvSpPr>
          <p:cNvPr id="43" name="Shape 36"/>
          <p:cNvSpPr/>
          <p:nvPr/>
        </p:nvSpPr>
        <p:spPr>
          <a:xfrm>
            <a:off x="6181344" y="3145536"/>
            <a:ext cx="2770632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181344" y="3145536"/>
            <a:ext cx="2770632" cy="64008"/>
          </a:xfrm>
          <a:prstGeom prst="rect">
            <a:avLst/>
          </a:prstGeom>
          <a:solidFill>
            <a:srgbClr val="9B59F7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310128"/>
            <a:ext cx="402336" cy="40233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858000" y="332841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6345936" y="38404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chain-of-thought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per investigation.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201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4 OF 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Toolset — 8 K8s Tools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256032" y="118872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1463040"/>
            <a:ext cx="868680" cy="2286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463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1408176"/>
            <a:ext cx="347472" cy="34747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764792" y="1261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k8s_list_pods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764792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pods &amp; status in namespace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736592" y="118872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1463040"/>
            <a:ext cx="868680" cy="2286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26" name="Text 23"/>
          <p:cNvSpPr/>
          <p:nvPr/>
        </p:nvSpPr>
        <p:spPr>
          <a:xfrm>
            <a:off x="4846320" y="14630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1408176"/>
            <a:ext cx="347472" cy="34747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245352" y="12618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k8s_get_logs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245352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last N lines of container logs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256032" y="214884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365760" y="2423160"/>
            <a:ext cx="868680" cy="2286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2" name="Text 28"/>
          <p:cNvSpPr/>
          <p:nvPr/>
        </p:nvSpPr>
        <p:spPr>
          <a:xfrm>
            <a:off x="365760" y="24231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2368296"/>
            <a:ext cx="347472" cy="34747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764792" y="2221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k8s_describe_pod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1764792" y="2624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pod spec, resource limits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4736592" y="214884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4846320" y="2423160"/>
            <a:ext cx="868680" cy="228600"/>
          </a:xfrm>
          <a:prstGeom prst="rect">
            <a:avLst/>
          </a:prstGeom>
          <a:solidFill>
            <a:srgbClr val="00C8FF"/>
          </a:solidFill>
          <a:ln/>
        </p:spPr>
      </p:sp>
      <p:sp>
        <p:nvSpPr>
          <p:cNvPr id="38" name="Text 33"/>
          <p:cNvSpPr/>
          <p:nvPr/>
        </p:nvSpPr>
        <p:spPr>
          <a:xfrm>
            <a:off x="4846320" y="24231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8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368296"/>
            <a:ext cx="347472" cy="34747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245352" y="2221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k8s_get_events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6245352" y="2624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events associated with pod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256032" y="310896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365760" y="3383280"/>
            <a:ext cx="868680" cy="2286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4" name="Text 38"/>
          <p:cNvSpPr/>
          <p:nvPr/>
        </p:nvSpPr>
        <p:spPr>
          <a:xfrm>
            <a:off x="365760" y="33832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85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" y="3328416"/>
            <a:ext cx="347472" cy="347472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764792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k8s_patch_memory</a:t>
            </a:r>
            <a:endParaRPr lang="en-US" sz="1200" dirty="0"/>
          </a:p>
        </p:txBody>
      </p:sp>
      <p:sp>
        <p:nvSpPr>
          <p:cNvPr id="47" name="Text 40"/>
          <p:cNvSpPr/>
          <p:nvPr/>
        </p:nvSpPr>
        <p:spPr>
          <a:xfrm>
            <a:off x="1764792" y="35844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memory limit (cap 2048Mi)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4736592" y="310896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2"/>
          <p:cNvSpPr/>
          <p:nvPr/>
        </p:nvSpPr>
        <p:spPr>
          <a:xfrm>
            <a:off x="4846320" y="3383280"/>
            <a:ext cx="868680" cy="2286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50" name="Text 43"/>
          <p:cNvSpPr/>
          <p:nvPr/>
        </p:nvSpPr>
        <p:spPr>
          <a:xfrm>
            <a:off x="4846320" y="338328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850" dirty="0"/>
          </a:p>
        </p:txBody>
      </p:sp>
      <p:pic>
        <p:nvPicPr>
          <p:cNvPr id="5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152" y="3328416"/>
            <a:ext cx="347472" cy="347472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6245352" y="318211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k8s_rollout_restart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6245352" y="35844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rolling Deployment restart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256032" y="406908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365760" y="4343400"/>
            <a:ext cx="86868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6" name="Text 48"/>
          <p:cNvSpPr/>
          <p:nvPr/>
        </p:nvSpPr>
        <p:spPr>
          <a:xfrm>
            <a:off x="365760" y="43434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85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7592" y="4288536"/>
            <a:ext cx="347472" cy="347472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1764792" y="4142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create_jira_ticket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1764792" y="4544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P2 ticket with full context</a:t>
            </a:r>
            <a:endParaRPr lang="en-US" sz="1100" dirty="0"/>
          </a:p>
        </p:txBody>
      </p:sp>
      <p:sp>
        <p:nvSpPr>
          <p:cNvPr id="60" name="Shape 51"/>
          <p:cNvSpPr/>
          <p:nvPr/>
        </p:nvSpPr>
        <p:spPr>
          <a:xfrm>
            <a:off x="4736592" y="4069080"/>
            <a:ext cx="4224528" cy="82296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2"/>
          <p:cNvSpPr/>
          <p:nvPr/>
        </p:nvSpPr>
        <p:spPr>
          <a:xfrm>
            <a:off x="4846320" y="4343400"/>
            <a:ext cx="868680" cy="2286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62" name="Text 53"/>
          <p:cNvSpPr/>
          <p:nvPr/>
        </p:nvSpPr>
        <p:spPr>
          <a:xfrm>
            <a:off x="4846320" y="434340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850" dirty="0"/>
          </a:p>
        </p:txBody>
      </p:sp>
      <p:pic>
        <p:nvPicPr>
          <p:cNvPr id="6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152" y="4288536"/>
            <a:ext cx="347472" cy="347472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6245352" y="414223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8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send_slack_notif</a:t>
            </a:r>
            <a:endParaRPr lang="en-US" sz="1200" dirty="0"/>
          </a:p>
        </p:txBody>
      </p:sp>
      <p:sp>
        <p:nvSpPr>
          <p:cNvPr id="65" name="Text 55"/>
          <p:cNvSpPr/>
          <p:nvPr/>
        </p:nvSpPr>
        <p:spPr>
          <a:xfrm>
            <a:off x="6245352" y="4544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#incidents channel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828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3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2011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2062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OOMKilled: End-to-End Auto-Remediation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74320" y="1060704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1152144"/>
            <a:ext cx="384048" cy="384048"/>
          </a:xfrm>
          <a:prstGeom prst="ellipse">
            <a:avLst/>
          </a:prstGeom>
          <a:solidFill>
            <a:srgbClr val="FF6835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1152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70432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261872" y="11064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exceeds 64Mi limit  →  OOMKilled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261872" y="137160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fires OOMKilledAlert (severity: critical)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1719072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47472" y="1810512"/>
            <a:ext cx="384048" cy="38404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5" name="Text 22"/>
          <p:cNvSpPr/>
          <p:nvPr/>
        </p:nvSpPr>
        <p:spPr>
          <a:xfrm>
            <a:off x="347472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261872" y="17647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routes  →  POST /api/investigate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1261872" y="202996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webhook-agent bridge in monitoring namespace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2377440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47472" y="2468880"/>
            <a:ext cx="384048" cy="384048"/>
          </a:xfrm>
          <a:prstGeom prst="ellipse">
            <a:avLst/>
          </a:prstGeom>
          <a:solidFill>
            <a:srgbClr val="1B7FE8"/>
          </a:solidFill>
          <a:ln/>
        </p:spPr>
      </p:sp>
      <p:sp>
        <p:nvSpPr>
          <p:cNvPr id="31" name="Text 27"/>
          <p:cNvSpPr/>
          <p:nvPr/>
        </p:nvSpPr>
        <p:spPr>
          <a:xfrm>
            <a:off x="347472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87168"/>
            <a:ext cx="310896" cy="31089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61872" y="24231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list_pods  →  get_logs  →  describe_pod  →  events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1261872" y="268833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investigation before any remediation action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274320" y="3035808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347472" y="3127248"/>
            <a:ext cx="384048" cy="384048"/>
          </a:xfrm>
          <a:prstGeom prst="ellipse">
            <a:avLst/>
          </a:prstGeom>
          <a:solidFill>
            <a:srgbClr val="9B59F7"/>
          </a:solidFill>
          <a:ln/>
        </p:spPr>
      </p:sp>
      <p:sp>
        <p:nvSpPr>
          <p:cNvPr id="37" name="Text 32"/>
          <p:cNvSpPr/>
          <p:nvPr/>
        </p:nvSpPr>
        <p:spPr>
          <a:xfrm>
            <a:off x="34747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145536"/>
            <a:ext cx="310896" cy="31089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261872" y="30815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patches Deployment memory limit  x2</a:t>
            </a:r>
            <a:endParaRPr lang="en-US" sz="1350" dirty="0"/>
          </a:p>
        </p:txBody>
      </p:sp>
      <p:sp>
        <p:nvSpPr>
          <p:cNvPr id="40" name="Text 34"/>
          <p:cNvSpPr/>
          <p:nvPr/>
        </p:nvSpPr>
        <p:spPr>
          <a:xfrm>
            <a:off x="1261872" y="334670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2048Mi — never patches beyond safe limit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274320" y="3694176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347472" y="3785616"/>
            <a:ext cx="384048" cy="38404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3" name="Text 37"/>
          <p:cNvSpPr/>
          <p:nvPr/>
        </p:nvSpPr>
        <p:spPr>
          <a:xfrm>
            <a:off x="347472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03904"/>
            <a:ext cx="310896" cy="310896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1261872" y="37398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k8s_rollout_restart  →  pod recovers with new limit</a:t>
            </a:r>
            <a:endParaRPr lang="en-US" sz="1350" dirty="0"/>
          </a:p>
        </p:txBody>
      </p:sp>
      <p:sp>
        <p:nvSpPr>
          <p:cNvPr id="46" name="Text 39"/>
          <p:cNvSpPr/>
          <p:nvPr/>
        </p:nvSpPr>
        <p:spPr>
          <a:xfrm>
            <a:off x="1261872" y="40050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restart — zero downtime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274320" y="4352544"/>
            <a:ext cx="85039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1"/>
          <p:cNvSpPr/>
          <p:nvPr/>
        </p:nvSpPr>
        <p:spPr>
          <a:xfrm>
            <a:off x="347472" y="4443984"/>
            <a:ext cx="384048" cy="38404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49" name="Text 42"/>
          <p:cNvSpPr/>
          <p:nvPr/>
        </p:nvSpPr>
        <p:spPr>
          <a:xfrm>
            <a:off x="347472" y="4443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462272"/>
            <a:ext cx="310896" cy="31089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1261872" y="43982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send_slack_notif  →  #incidents:  Auto-remediated</a:t>
            </a:r>
            <a:endParaRPr lang="en-US" sz="1350" dirty="0"/>
          </a:p>
        </p:txBody>
      </p:sp>
      <p:sp>
        <p:nvSpPr>
          <p:cNvPr id="52" name="Text 44"/>
          <p:cNvSpPr/>
          <p:nvPr/>
        </p:nvSpPr>
        <p:spPr>
          <a:xfrm>
            <a:off x="1261872" y="46634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report: pod, before/after memory, total duration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828800" y="201168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 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7548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CrashLoopBackOff: Fix or Escalate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617720" y="1078992"/>
            <a:ext cx="45720" cy="3840480"/>
          </a:xfrm>
          <a:prstGeom prst="rect">
            <a:avLst/>
          </a:prstGeom>
          <a:solidFill>
            <a:srgbClr val="1A2E6A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1078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Path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4320" y="1572768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1572768"/>
            <a:ext cx="64008" cy="640080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728216"/>
            <a:ext cx="310896" cy="310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7824" y="1755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Investigate: logs, events, pod spec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74320" y="2368296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2368296"/>
            <a:ext cx="64008" cy="640080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523744"/>
            <a:ext cx="310896" cy="31089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7824" y="2551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crash pattern identified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274320" y="3163824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74320" y="3163824"/>
            <a:ext cx="64008" cy="640080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19272"/>
            <a:ext cx="310896" cy="31089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7824" y="33467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k8s_rollout_restart triggered</a:t>
            </a:r>
            <a:endParaRPr lang="en-US" sz="1300" dirty="0"/>
          </a:p>
        </p:txBody>
      </p:sp>
      <p:sp>
        <p:nvSpPr>
          <p:cNvPr id="32" name="Shape 27"/>
          <p:cNvSpPr/>
          <p:nvPr/>
        </p:nvSpPr>
        <p:spPr>
          <a:xfrm>
            <a:off x="274320" y="3959352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274320" y="3959352"/>
            <a:ext cx="64008" cy="640080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14800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77824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success + summary sent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4754880" y="1078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Path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4754880" y="1572768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4754880" y="1572768"/>
            <a:ext cx="64008" cy="640080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728216"/>
            <a:ext cx="310896" cy="31089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358384" y="1755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Investigate: logs, events, pod spec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4754880" y="2368296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4754880" y="2368296"/>
            <a:ext cx="64008" cy="640080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523744"/>
            <a:ext cx="310896" cy="310896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358384" y="25511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/ ImagePullBackOff error</a:t>
            </a:r>
            <a:endParaRPr lang="en-US" sz="1300" dirty="0"/>
          </a:p>
        </p:txBody>
      </p:sp>
      <p:sp>
        <p:nvSpPr>
          <p:cNvPr id="45" name="Shape 37"/>
          <p:cNvSpPr/>
          <p:nvPr/>
        </p:nvSpPr>
        <p:spPr>
          <a:xfrm>
            <a:off x="4754880" y="3163824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754880" y="3163824"/>
            <a:ext cx="64008" cy="640080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319272"/>
            <a:ext cx="310896" cy="31089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358384" y="33467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create_jira_ticket  →  P2 priority</a:t>
            </a:r>
            <a:endParaRPr lang="en-US" sz="1300" dirty="0"/>
          </a:p>
        </p:txBody>
      </p:sp>
      <p:sp>
        <p:nvSpPr>
          <p:cNvPr id="49" name="Shape 40"/>
          <p:cNvSpPr/>
          <p:nvPr/>
        </p:nvSpPr>
        <p:spPr>
          <a:xfrm>
            <a:off x="4754880" y="3959352"/>
            <a:ext cx="4160520" cy="640080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754880" y="3959352"/>
            <a:ext cx="64008" cy="640080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4114800"/>
            <a:ext cx="310896" cy="310896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358384" y="41422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JIRA link + full context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D8E8F8">
              <a:alpha val="50000"/>
            </a:srgbClr>
          </a:solidFill>
          <a:ln w="12700">
            <a:solidFill>
              <a:srgbClr val="B8CB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48280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3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" y="20116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2062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A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Bedrock AgentCore?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256032" y="1042416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042416"/>
            <a:ext cx="2029968" cy="64008"/>
          </a:xfrm>
          <a:prstGeom prst="rect">
            <a:avLst/>
          </a:prstGeom>
          <a:solidFill>
            <a:srgbClr val="1B7FE8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18872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41248" y="1133856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7F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~30s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347472" y="177393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Remediate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47472" y="204825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15-45 min manual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468880" y="1042416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8880" y="1042416"/>
            <a:ext cx="2029968" cy="64008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188720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054096" y="1133856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27" name="Text 23"/>
          <p:cNvSpPr/>
          <p:nvPr/>
        </p:nvSpPr>
        <p:spPr>
          <a:xfrm>
            <a:off x="2560320" y="177393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pages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2560320" y="204825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auto-fixable issues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681728" y="1042416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4681728" y="1042416"/>
            <a:ext cx="2029968" cy="64008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188720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266944" y="1133856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8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3200" dirty="0"/>
          </a:p>
        </p:txBody>
      </p:sp>
      <p:sp>
        <p:nvSpPr>
          <p:cNvPr id="33" name="Text 28"/>
          <p:cNvSpPr/>
          <p:nvPr/>
        </p:nvSpPr>
        <p:spPr>
          <a:xfrm>
            <a:off x="4773168" y="177393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tools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4773168" y="204825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 ·  JIRA  ·  Slack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894576" y="1042416"/>
            <a:ext cx="2029968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894576" y="1042416"/>
            <a:ext cx="2029968" cy="64008"/>
          </a:xfrm>
          <a:prstGeom prst="rect">
            <a:avLst/>
          </a:prstGeom>
          <a:solidFill>
            <a:srgbClr val="9B59F7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1188720"/>
            <a:ext cx="384048" cy="38404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479792" y="1133856"/>
            <a:ext cx="1353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B59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200" dirty="0"/>
          </a:p>
        </p:txBody>
      </p:sp>
      <p:sp>
        <p:nvSpPr>
          <p:cNvPr id="39" name="Text 33"/>
          <p:cNvSpPr/>
          <p:nvPr/>
        </p:nvSpPr>
        <p:spPr>
          <a:xfrm>
            <a:off x="6986016" y="177393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6986016" y="2048256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trace per alert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256032" y="2816352"/>
            <a:ext cx="2029968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256032" y="2816352"/>
            <a:ext cx="2029968" cy="64008"/>
          </a:xfrm>
          <a:prstGeom prst="rect">
            <a:avLst/>
          </a:prstGeom>
          <a:solidFill>
            <a:srgbClr val="1B7FE8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962656"/>
            <a:ext cx="420624" cy="42062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47472" y="351129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347472" y="38404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 to manage.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handles scaling,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observability.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2468880" y="2816352"/>
            <a:ext cx="2029968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2468880" y="2816352"/>
            <a:ext cx="2029968" cy="64008"/>
          </a:xfrm>
          <a:prstGeom prst="rect">
            <a:avLst/>
          </a:prstGeom>
          <a:solidFill>
            <a:srgbClr val="00C896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2962656"/>
            <a:ext cx="420624" cy="42062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2560320" y="351129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IAM-Secured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2560320" y="38404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hardcoded creds.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AWS IAM trust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only.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4681728" y="2816352"/>
            <a:ext cx="2029968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Shape 44"/>
          <p:cNvSpPr/>
          <p:nvPr/>
        </p:nvSpPr>
        <p:spPr>
          <a:xfrm>
            <a:off x="4681728" y="2816352"/>
            <a:ext cx="2029968" cy="64008"/>
          </a:xfrm>
          <a:prstGeom prst="rect">
            <a:avLst/>
          </a:prstGeom>
          <a:solidFill>
            <a:srgbClr val="9B59F7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7256" y="2962656"/>
            <a:ext cx="420624" cy="420624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4773168" y="351129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300" dirty="0"/>
          </a:p>
        </p:txBody>
      </p:sp>
      <p:sp>
        <p:nvSpPr>
          <p:cNvPr id="55" name="Text 46"/>
          <p:cNvSpPr/>
          <p:nvPr/>
        </p:nvSpPr>
        <p:spPr>
          <a:xfrm>
            <a:off x="4773168" y="38404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tools in minutes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SDK.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Python.</a:t>
            </a:r>
            <a:endParaRPr lang="en-US" sz="1100" dirty="0"/>
          </a:p>
        </p:txBody>
      </p:sp>
      <p:sp>
        <p:nvSpPr>
          <p:cNvPr id="56" name="Shape 47"/>
          <p:cNvSpPr/>
          <p:nvPr/>
        </p:nvSpPr>
        <p:spPr>
          <a:xfrm>
            <a:off x="6894576" y="2816352"/>
            <a:ext cx="2029968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6894576" y="2816352"/>
            <a:ext cx="2029968" cy="64008"/>
          </a:xfrm>
          <a:prstGeom prst="rect">
            <a:avLst/>
          </a:prstGeom>
          <a:solidFill>
            <a:srgbClr val="FF6835"/>
          </a:solidFill>
          <a:ln/>
        </p:spPr>
      </p:sp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0104" y="2962656"/>
            <a:ext cx="420624" cy="420624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6986016" y="3511296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300" dirty="0"/>
          </a:p>
        </p:txBody>
      </p:sp>
      <p:sp>
        <p:nvSpPr>
          <p:cNvPr id="60" name="Text 50"/>
          <p:cNvSpPr/>
          <p:nvPr/>
        </p:nvSpPr>
        <p:spPr>
          <a:xfrm>
            <a:off x="6986016" y="3840480"/>
            <a:ext cx="1847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reasoning trace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for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debug.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7804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3716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7804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14300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214884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804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3154680"/>
            <a:ext cx="804672" cy="804672"/>
          </a:xfrm>
          <a:prstGeom prst="rect">
            <a:avLst/>
          </a:prstGeom>
          <a:solidFill>
            <a:srgbClr val="0B1640">
              <a:alpha val="60000"/>
            </a:srgbClr>
          </a:solidFill>
          <a:ln w="12700">
            <a:solidFill>
              <a:srgbClr val="1A2E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pPr indent="0" marL="0">
              <a:buNone/>
            </a:pPr>
            <a:r>
              <a:rPr lang="en-US" sz="1400" b="1" dirty="0">
                <a:solidFill>
                  <a:srgbClr val="1B7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" y="4023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6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Bengaluru 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040" y="7498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1115568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Extend, Deploy &amp;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20040" y="169164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 to Production</a:t>
            </a:r>
            <a:endParaRPr lang="en-US" sz="380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6858000" cy="39319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255117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86384" y="25694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EKS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2743200" y="256946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chart included — one command to deploy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74320" y="2944368"/>
            <a:ext cx="6858000" cy="39319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300837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86384" y="30266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Tools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2743200" y="302666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PagerDuty, Datadog, SNS — pure Python Strands SDK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74320" y="3401568"/>
            <a:ext cx="6858000" cy="39319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465576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86384" y="34838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Dashboard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2743200" y="348386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agent decisions and remediation outcomes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274320" y="3858768"/>
            <a:ext cx="6858000" cy="39319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922776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86384" y="39410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IAM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2743200" y="394106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K8s RBAC to minimum required verbs</a:t>
            </a:r>
            <a:endParaRPr lang="en-US" sz="1200" dirty="0"/>
          </a:p>
        </p:txBody>
      </p:sp>
      <p:sp>
        <p:nvSpPr>
          <p:cNvPr id="35" name="Shape 29"/>
          <p:cNvSpPr/>
          <p:nvPr/>
        </p:nvSpPr>
        <p:spPr>
          <a:xfrm>
            <a:off x="274320" y="4315968"/>
            <a:ext cx="6858000" cy="393192"/>
          </a:xfrm>
          <a:prstGeom prst="rect">
            <a:avLst/>
          </a:prstGeom>
          <a:solidFill>
            <a:srgbClr val="0D1A4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4379976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86384" y="439826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Test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2743200" y="439826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OOMKilled events — watch the agent remediate live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274320" y="48006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github.com/your-org/bedrock-k8s-agent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K8s Auto-Remediation — Bedrock AgentCore</dc:title>
  <dc:subject>PptxGenJS Presentation</dc:subject>
  <dc:creator>PptxGenJS</dc:creator>
  <cp:lastModifiedBy>PptxGenJS</cp:lastModifiedBy>
  <cp:revision>1</cp:revision>
  <dcterms:created xsi:type="dcterms:W3CDTF">2026-03-09T12:15:51Z</dcterms:created>
  <dcterms:modified xsi:type="dcterms:W3CDTF">2026-03-09T12:15:51Z</dcterms:modified>
</cp:coreProperties>
</file>